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y-first-project/assets/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1188720" cy="11887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23774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Resolve 自動配置ツール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2461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取扱説明書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1148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1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 → 台本 → 素材を入れて「スタート」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9D1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DaVinci Resolve にタイムラインが自動でできあがります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6035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4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2026年9月版</a:t>
            </a:r>
            <a:endParaRPr lang="en-US" sz="1200" dirty="0"/>
          </a:p>
        </p:txBody>
      </p:sp>
      <p:pic>
        <p:nvPicPr>
          <p:cNvPr id="7" name="Image 1" descr="/home/user/my-first-project/tools/manual/shots/storyboa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822960"/>
            <a:ext cx="4480560" cy="273405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50000"/>
              </a:srgbClr>
            </a:outerShdw>
          </a:effectLst>
        </p:spPr>
      </p:pic>
      <p:pic>
        <p:nvPicPr>
          <p:cNvPr id="8" name="Image 2" descr="/home/user/my-first-project/tools/manual/shots/telop_examp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3794760"/>
            <a:ext cx="1600200" cy="2843784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このツールでできること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台本のシーン順に、素材・テロップ・音をタイムラインへ自動で並べます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949440" cy="3703320"/>
          </a:xfrm>
          <a:prstGeom prst="roundRect">
            <a:avLst>
              <a:gd name="adj" fmla="val 29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できあがるタイムライン（イメージ）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1460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V2 テロップ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48840" y="2514600"/>
            <a:ext cx="5120640" cy="420624"/>
          </a:xfrm>
          <a:prstGeom prst="rect">
            <a:avLst/>
          </a:prstGeom>
          <a:solidFill>
            <a:srgbClr val="E7EBF1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67128" y="2560320"/>
            <a:ext cx="1192378" cy="329184"/>
          </a:xfrm>
          <a:prstGeom prst="roundRect">
            <a:avLst>
              <a:gd name="adj" fmla="val 13889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96082" y="2560320"/>
            <a:ext cx="1141171" cy="329184"/>
          </a:xfrm>
          <a:prstGeom prst="roundRect">
            <a:avLst>
              <a:gd name="adj" fmla="val 13889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3829" y="2560320"/>
            <a:ext cx="1243584" cy="329184"/>
          </a:xfrm>
          <a:prstGeom prst="roundRect">
            <a:avLst>
              <a:gd name="adj" fmla="val 13889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3989" y="2560320"/>
            <a:ext cx="1397203" cy="329184"/>
          </a:xfrm>
          <a:prstGeom prst="roundRect">
            <a:avLst>
              <a:gd name="adj" fmla="val 13889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044952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 動画・画像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48840" y="3044952"/>
            <a:ext cx="5120640" cy="420624"/>
          </a:xfrm>
          <a:prstGeom prst="rect">
            <a:avLst/>
          </a:prstGeom>
          <a:solidFill>
            <a:srgbClr val="E7EBF1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67128" y="3090672"/>
            <a:ext cx="1192378" cy="329184"/>
          </a:xfrm>
          <a:prstGeom prst="roundRect">
            <a:avLst>
              <a:gd name="adj" fmla="val 13889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96082" y="3090672"/>
            <a:ext cx="1141171" cy="329184"/>
          </a:xfrm>
          <a:prstGeom prst="roundRect">
            <a:avLst>
              <a:gd name="adj" fmla="val 13889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3829" y="3090672"/>
            <a:ext cx="629107" cy="329184"/>
          </a:xfrm>
          <a:prstGeom prst="roundRect">
            <a:avLst>
              <a:gd name="adj" fmla="val 13889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39512" y="3090672"/>
            <a:ext cx="577901" cy="329184"/>
          </a:xfrm>
          <a:prstGeom prst="roundRect">
            <a:avLst>
              <a:gd name="adj" fmla="val 13889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53989" y="3090672"/>
            <a:ext cx="1397203" cy="329184"/>
          </a:xfrm>
          <a:prstGeom prst="roundRect">
            <a:avLst>
              <a:gd name="adj" fmla="val 13889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575304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A1 ナレーション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148840" y="3575304"/>
            <a:ext cx="5120640" cy="420624"/>
          </a:xfrm>
          <a:prstGeom prst="rect">
            <a:avLst/>
          </a:prstGeom>
          <a:solidFill>
            <a:srgbClr val="E7EBF1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67128" y="3621024"/>
            <a:ext cx="5084064" cy="329184"/>
          </a:xfrm>
          <a:prstGeom prst="roundRect">
            <a:avLst>
              <a:gd name="adj" fmla="val 13889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05656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A2 BGM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148840" y="4105656"/>
            <a:ext cx="5120640" cy="420624"/>
          </a:xfrm>
          <a:prstGeom prst="rect">
            <a:avLst/>
          </a:prstGeom>
          <a:solidFill>
            <a:srgbClr val="E7EBF1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67128" y="4151376"/>
            <a:ext cx="5084064" cy="329184"/>
          </a:xfrm>
          <a:prstGeom prst="roundRect">
            <a:avLst>
              <a:gd name="adj" fmla="val 13889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6360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A3 効果音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148840" y="4636008"/>
            <a:ext cx="5120640" cy="420624"/>
          </a:xfrm>
          <a:prstGeom prst="rect">
            <a:avLst/>
          </a:prstGeom>
          <a:solidFill>
            <a:srgbClr val="E7EBF1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67128" y="4681728"/>
            <a:ext cx="219456" cy="329184"/>
          </a:xfrm>
          <a:prstGeom prst="roundRect">
            <a:avLst>
              <a:gd name="adj" fmla="val 20833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6750" y="4681728"/>
            <a:ext cx="270662" cy="329184"/>
          </a:xfrm>
          <a:prstGeom prst="roundRect">
            <a:avLst>
              <a:gd name="adj" fmla="val 16892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67128" y="2240280"/>
            <a:ext cx="182880" cy="1828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86584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396082" y="2240280"/>
            <a:ext cx="182880" cy="1828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615538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S02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3829" y="2240280"/>
            <a:ext cx="182880" cy="1828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793285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S03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853989" y="2240280"/>
            <a:ext cx="182880" cy="1828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073445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S04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507492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はシーンの頭に付くマーカー（名前＝シーン番号）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955280" y="16459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A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自動でやること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7955280" y="205740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読み上げに合わせてシーンを切り替え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動画が短いときは最後の画面で埋める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テロップを Text+ で V2 に置く（直せる）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BGM・効果音を置く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縦長 1080×1920・30fps で作る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7955280" y="4251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548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人がやること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7955280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最後の確認（再生して見る）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音量の調整・テロップの色分けなどの仕上げ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48640" y="5577840"/>
            <a:ext cx="11155680" cy="685800"/>
          </a:xfrm>
          <a:prstGeom prst="roundRect">
            <a:avLst>
              <a:gd name="adj" fmla="val 16000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1520" y="5687568"/>
            <a:ext cx="107899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既存のタイムラインは変更しません。実行するたびに「動画名_日付_時刻」の新しいタイムラインが増えます。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動画ができるまでの流れ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毎回この5ステップ。②〜④はアプリの中で進めます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103120" cy="3291840"/>
          </a:xfrm>
          <a:prstGeom prst="roundRect">
            <a:avLst>
              <a:gd name="adj" fmla="val 52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945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4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260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絵コンテを作る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576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今までどおり PNG で作成。ナレーション・テロップ・素材名を書く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800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p.6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633472" y="338328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AE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16352" y="1920240"/>
            <a:ext cx="2103120" cy="3291840"/>
          </a:xfrm>
          <a:prstGeom prst="roundRect">
            <a:avLst>
              <a:gd name="adj" fmla="val 5217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044952" y="21945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44952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40" dirty="0"/>
          </a:p>
        </p:txBody>
      </p:sp>
      <p:sp>
        <p:nvSpPr>
          <p:cNvPr id="14" name="Text 12"/>
          <p:cNvSpPr txBox="1"/>
          <p:nvPr/>
        </p:nvSpPr>
        <p:spPr>
          <a:xfrm>
            <a:off x="3044952" y="29260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台本に変換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044952" y="36576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アプリの「絵コンテ画像から作る」で PNG を読み込み、文字を確認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044952" y="4800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p.7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901184" y="338328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AE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84064" y="1920240"/>
            <a:ext cx="2103120" cy="3291840"/>
          </a:xfrm>
          <a:prstGeom prst="roundRect">
            <a:avLst>
              <a:gd name="adj" fmla="val 52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12664" y="21945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12664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40" dirty="0"/>
          </a:p>
        </p:txBody>
      </p:sp>
      <p:sp>
        <p:nvSpPr>
          <p:cNvPr id="21" name="Text 19"/>
          <p:cNvSpPr txBox="1"/>
          <p:nvPr/>
        </p:nvSpPr>
        <p:spPr>
          <a:xfrm>
            <a:off x="5312664" y="29260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ナレーション音声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312664" y="36576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台本の文章を ElevenLabs などで読み上げて1本の音声に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312664" y="4800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p.9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68896" y="338328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AE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51776" y="1920240"/>
            <a:ext cx="2103120" cy="3291840"/>
          </a:xfrm>
          <a:prstGeom prst="roundRect">
            <a:avLst>
              <a:gd name="adj" fmla="val 52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80376" y="21945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80376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040" dirty="0"/>
          </a:p>
        </p:txBody>
      </p:sp>
      <p:sp>
        <p:nvSpPr>
          <p:cNvPr id="28" name="Text 26"/>
          <p:cNvSpPr txBox="1"/>
          <p:nvPr/>
        </p:nvSpPr>
        <p:spPr>
          <a:xfrm>
            <a:off x="7580376" y="29260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素材を入れてスタート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7580376" y="36576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動画・画像・BGM・効果音を入れて「▶ スタート」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580376" y="4800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p.10-12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436608" y="338328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AE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619488" y="1920240"/>
            <a:ext cx="2103120" cy="3291840"/>
          </a:xfrm>
          <a:prstGeom prst="roundRect">
            <a:avLst>
              <a:gd name="adj" fmla="val 52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848088" y="21945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848088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2040" dirty="0"/>
          </a:p>
        </p:txBody>
      </p:sp>
      <p:sp>
        <p:nvSpPr>
          <p:cNvPr id="35" name="Text 33"/>
          <p:cNvSpPr txBox="1"/>
          <p:nvPr/>
        </p:nvSpPr>
        <p:spPr>
          <a:xfrm>
            <a:off x="9848088" y="29260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Resolve で確認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848088" y="36576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再生してチェック。音量などを仕上げて完成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9848088" y="4800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p.13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577840"/>
            <a:ext cx="11155680" cy="640080"/>
          </a:xfrm>
          <a:prstGeom prst="roundRect">
            <a:avLst>
              <a:gd name="adj" fmla="val 17143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68756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時間のめやす：準備 10分 ＋ 処理（音声1分あたり約2分）。処理中は待つだけです。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最初の準備（1回だけ）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新しいパソコンや更新のあとに行います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9933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最新版と部品を入れる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PowerShell で1行ずつ貼り付けて Enter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1965960"/>
            <a:ext cx="457200" cy="45720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19933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デスクトップにアイコン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フォルダの「ショートカット作成.bat」をダブルクリック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17373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66760" y="1965960"/>
            <a:ext cx="457200" cy="45720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67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19933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 キーを用意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絵コンテ画像の読み取りに使う（次のページ）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31520" y="3291840"/>
            <a:ext cx="3200400" cy="1463040"/>
          </a:xfrm>
          <a:prstGeom prst="roundRect">
            <a:avLst>
              <a:gd name="adj" fmla="val 50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401568"/>
            <a:ext cx="28346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"G:\@Auto_Davinch-Cloude"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 origin claude/claude-md-phase-0-qxn5wu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.\run.bat -m pip install -r requirements.txt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最後に「Successfully installed」か「already satisfied」と出れば OK</a:t>
            </a:r>
            <a:endParaRPr lang="en-US" sz="1150" dirty="0"/>
          </a:p>
        </p:txBody>
      </p:sp>
      <p:pic>
        <p:nvPicPr>
          <p:cNvPr id="22" name="Image 0" descr="/home/user/my-first-project/assets/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3200400"/>
            <a:ext cx="1097280" cy="109728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754880" y="4343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Resolve自動配置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526280" y="48006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次からはこのアイコンを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ダブルクリックするだけ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412480" y="3246120"/>
            <a:ext cx="30175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549640" y="3246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sk-ant-api03-••••••••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0" y="406908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キーは初回の読み取り時にアプリが聞いてきます。一度入れれば覚えています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 キーの作り方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絵コンテ画像の読み取り（AI）に使います。1回 数円〜十数円程度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7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642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console.anthropic.com を開く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2996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アカウントがなければ作成してログイン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7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5328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クレジットを購入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89864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「Billing」から。最低 5 ドル程度で十分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29000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7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4015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キーを作る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76732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「API Keys」→「Create Key」。名前は自由（例: resolve）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297680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87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2702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キーをコピー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6360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sk-ant- で始まる文字。画面を閉じると二度と見られないので注意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166360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5166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87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アプリに貼る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550468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「絵コンテ画像から作る…」を初めて押したときの画面に貼り付けて OK</a:t>
            </a:r>
            <a:endParaRPr lang="en-US" sz="1250" dirty="0"/>
          </a:p>
        </p:txBody>
      </p:sp>
      <p:pic>
        <p:nvPicPr>
          <p:cNvPr id="24" name="Image 0" descr="/home/user/my-first-project/tools/manual/shots/app_api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600200"/>
            <a:ext cx="5212080" cy="479145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25" name="Shape 22"/>
          <p:cNvSpPr/>
          <p:nvPr/>
        </p:nvSpPr>
        <p:spPr>
          <a:xfrm>
            <a:off x="548640" y="6080760"/>
            <a:ext cx="5577840" cy="502920"/>
          </a:xfrm>
          <a:prstGeom prst="roundRect">
            <a:avLst>
              <a:gd name="adj" fmla="val 21818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6190488"/>
            <a:ext cx="5212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キーはパスワードと同じ。人に見せたり、SNS に載せたりしないでください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絵コンテの書き方のルール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各カットに「素材ファイル名」の欄を作り、下の名前で書きます</a:t>
            </a:r>
            <a:endParaRPr lang="en-US" sz="1400" dirty="0"/>
          </a:p>
        </p:txBody>
      </p:sp>
      <p:pic>
        <p:nvPicPr>
          <p:cNvPr id="4" name="Image 0" descr="/home/user/my-first-project/tools/manual/shots/story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035040" cy="36850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949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例：samples\絵コンテ_iPhone\絵コンテ_修正版.png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645920"/>
          <a:ext cx="48006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463040"/>
                <a:gridCol w="2011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名前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ポイント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動画・画像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M01, M02 …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カット番号と同じ数字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1カットに複数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M03_1, M03_2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ナレーションを [1][2] で分ける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テロップ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S01, S02 …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画面の見出し文字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効果音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K01, K02 …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使うカットにだけ書く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BGM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BGM1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動画全体で1曲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858000" y="4663440"/>
            <a:ext cx="4800600" cy="1005840"/>
          </a:xfrm>
          <a:prstGeom prst="roundRect">
            <a:avLst>
              <a:gd name="adj" fmla="val 10909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040880" y="4773168"/>
            <a:ext cx="4434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ナレーション欄は「読み上げる文章そのもの」を書きます。この文章が台本になり、音声とも一致させます。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絵コンテ画像から台本を作る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PNG を選ぶだけで、AI が台本の文字に変換します</a:t>
            </a:r>
            <a:endParaRPr lang="en-US" sz="1400" dirty="0"/>
          </a:p>
        </p:txBody>
      </p:sp>
      <p:pic>
        <p:nvPicPr>
          <p:cNvPr id="4" name="Image 0" descr="/home/user/my-first-project/tools/manual/shots/app_story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03520" cy="48828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309360" y="1691640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0936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7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166420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「絵コンテ画像から作る…」を押す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995160" y="2039112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アプリの ② 台本 の欄にあるボタン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09360" y="2624328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09360" y="2624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70" dirty="0"/>
          </a:p>
        </p:txBody>
      </p:sp>
      <p:sp>
        <p:nvSpPr>
          <p:cNvPr id="11" name="Text 8"/>
          <p:cNvSpPr txBox="1"/>
          <p:nvPr/>
        </p:nvSpPr>
        <p:spPr>
          <a:xfrm>
            <a:off x="6995160" y="25968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絵コンテの PNG を選ぶ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995160" y="29718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複数ページなら Ctrl を押しながら全部選ぶ（名前順に読みます）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309360" y="3557016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09360" y="3557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70" dirty="0"/>
          </a:p>
        </p:txBody>
      </p:sp>
      <p:sp>
        <p:nvSpPr>
          <p:cNvPr id="15" name="Text 12"/>
          <p:cNvSpPr txBox="1"/>
          <p:nvPr/>
        </p:nvSpPr>
        <p:spPr>
          <a:xfrm>
            <a:off x="6995160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30秒〜1分待つ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390448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の欄に台本が入ります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309360" y="4489704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09360" y="4489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87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446227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「直した箇所」を確認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6995160" y="4837176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崩れた文字を AI が直した所が一覧で出ます。違っていれば ② で直接修正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309360" y="5486400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92240" y="5596128"/>
            <a:ext cx="4983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の変換は完璧ではありません。特にナレーションの文章は必ず目で確認してください（音声と合わないと、切り替え位置がずれます）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台本の書き方（自分で直すとき）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の欄に書く文字のルール。AI で作った台本もこの形になっています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852160" cy="4480560"/>
          </a:xfrm>
          <a:prstGeom prst="roundRect">
            <a:avLst>
              <a:gd name="adj" fmla="val 1633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55648"/>
            <a:ext cx="5486400" cy="426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動画：M01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テロップ：ついに、想像を超えた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テロップ：iPhoneが来る。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効果音：K01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ついに、私たちの想像を超えたiPhoneがやって来ます。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S03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テロップ：シーン全体に出す文字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最初の部分のナレーション。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効果音：K02 +1.5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 次の部分のナレーション。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691640"/>
            <a:ext cx="4983480" cy="621792"/>
          </a:xfrm>
          <a:prstGeom prst="roundRect">
            <a:avLst>
              <a:gd name="adj" fmla="val 1764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12280" y="169164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S01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549640" y="169164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シーンの区切り（必須）。S＋2桁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2423160"/>
            <a:ext cx="4983480" cy="621792"/>
          </a:xfrm>
          <a:prstGeom prst="roundRect">
            <a:avLst>
              <a:gd name="adj" fmla="val 1764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12280" y="24231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テロップ：文字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549640" y="242316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1行＝画面の1行。見出しの直後ならシーン全体に出る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675120" y="3154680"/>
            <a:ext cx="4983480" cy="621792"/>
          </a:xfrm>
          <a:prstGeom prst="roundRect">
            <a:avLst>
              <a:gd name="adj" fmla="val 1764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315468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効果音：K01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549640" y="315468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シーンの頭で鳴らす。「+1.5」で1.5秒後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675120" y="3886200"/>
            <a:ext cx="4983480" cy="621792"/>
          </a:xfrm>
          <a:prstGeom prst="roundRect">
            <a:avLst>
              <a:gd name="adj" fmla="val 1764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12280" y="388620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[2]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388620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1シーンで素材を切り替える位置（M03_1・M03_2 と対応）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75120" y="4617720"/>
            <a:ext cx="4983480" cy="621792"/>
          </a:xfrm>
          <a:prstGeom prst="roundRect">
            <a:avLst>
              <a:gd name="adj" fmla="val 1764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12280" y="46177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メモ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549640" y="461772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読み上げない。カメラの指示などを残せる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675120" y="5349240"/>
            <a:ext cx="4983480" cy="621792"/>
          </a:xfrm>
          <a:prstGeom prst="roundRect">
            <a:avLst>
              <a:gd name="adj" fmla="val 1764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12280" y="534924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それ以外の行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549640" y="534924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ナレーション（音声と同じ文章に）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ナレーション音声を作る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切り替え位置は「台本の文章」と「音声」を突き合わせて決まります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4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台本の文章をそのまま読ませる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747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の台本から、ナレーションの行だけをコピーして ElevenLabs などに入れる。テロップ・// の行は入れない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011680"/>
            <a:ext cx="548640" cy="5486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4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743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音声ファイルは1本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4747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全シーン分を1本にまとめる。形式は mp3 / wav / m4a。ファイル名は自由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17373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2011680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4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743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台本を直したら音声も作り直す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4747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文章が違うと切り替え位置がずれ、レポートに「信頼度が低い」と警告が出ます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600700"/>
            <a:ext cx="91440" cy="13716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6092" y="5385615"/>
            <a:ext cx="91440" cy="56733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3544" y="5297914"/>
            <a:ext cx="91440" cy="742731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10996" y="5372415"/>
            <a:ext cx="91440" cy="593729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98448" y="5531111"/>
            <a:ext cx="91440" cy="27633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5551566"/>
            <a:ext cx="91440" cy="235429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73352" y="5544023"/>
            <a:ext cx="91440" cy="250513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60804" y="5587496"/>
            <a:ext cx="91440" cy="163567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48256" y="5543129"/>
            <a:ext cx="91440" cy="252302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35708" y="5597940"/>
            <a:ext cx="91440" cy="14268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423160" y="5450601"/>
            <a:ext cx="91440" cy="43735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10612" y="5323278"/>
            <a:ext cx="91440" cy="692005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98064" y="5328736"/>
            <a:ext cx="91440" cy="681089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85516" y="5492536"/>
            <a:ext cx="91440" cy="35348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72968" y="5475420"/>
            <a:ext cx="91440" cy="387719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60420" y="5313285"/>
            <a:ext cx="91440" cy="711991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47872" y="5312441"/>
            <a:ext cx="91440" cy="71367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35324" y="5448297"/>
            <a:ext cx="91440" cy="441965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22776" y="5594455"/>
            <a:ext cx="91440" cy="14965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110228" y="5523616"/>
            <a:ext cx="91440" cy="29132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97680" y="5562604"/>
            <a:ext cx="91440" cy="213352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85132" y="5566671"/>
            <a:ext cx="91440" cy="205219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72584" y="5565293"/>
            <a:ext cx="91440" cy="207974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60036" y="5529164"/>
            <a:ext cx="91440" cy="280232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47488" y="5380768"/>
            <a:ext cx="91440" cy="577025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4940" y="5312595"/>
            <a:ext cx="91440" cy="71337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22392" y="5402762"/>
            <a:ext cx="91440" cy="533036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09844" y="5583456"/>
            <a:ext cx="91440" cy="171647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97296" y="5369724"/>
            <a:ext cx="91440" cy="599112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84748" y="5285432"/>
            <a:ext cx="91440" cy="767696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72200" y="5366677"/>
            <a:ext cx="91440" cy="605205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359652" y="5535502"/>
            <a:ext cx="91440" cy="267555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547104" y="5536065"/>
            <a:ext cx="91440" cy="26643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734556" y="5520606"/>
            <a:ext cx="91440" cy="29734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922008" y="5589378"/>
            <a:ext cx="91440" cy="159803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109460" y="5561206"/>
            <a:ext cx="91440" cy="21614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96912" y="5591176"/>
            <a:ext cx="91440" cy="156207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484364" y="5455510"/>
            <a:ext cx="91440" cy="42754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671816" y="5336526"/>
            <a:ext cx="91440" cy="66550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859268" y="5345844"/>
            <a:ext cx="91440" cy="646872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046720" y="5510143"/>
            <a:ext cx="91440" cy="318273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234172" y="5459109"/>
            <a:ext cx="91440" cy="420342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21624" y="5299736"/>
            <a:ext cx="91440" cy="739087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609076" y="5304142"/>
            <a:ext cx="91440" cy="730275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796528" y="5448578"/>
            <a:ext cx="91440" cy="441404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983980" y="5583375"/>
            <a:ext cx="91440" cy="171809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171432" y="5502942"/>
            <a:ext cx="91440" cy="332676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358884" y="5537669"/>
            <a:ext cx="91440" cy="263222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546336" y="5588247"/>
            <a:ext cx="91440" cy="162067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733788" y="5577034"/>
            <a:ext cx="91440" cy="184492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921240" y="5529739"/>
            <a:ext cx="91440" cy="279081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108692" y="5391660"/>
            <a:ext cx="91440" cy="55524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296144" y="5329267"/>
            <a:ext cx="91440" cy="680026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483596" y="5420870"/>
            <a:ext cx="91440" cy="49682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671048" y="5566533"/>
            <a:ext cx="91440" cy="205493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858500" y="5355367"/>
            <a:ext cx="91440" cy="627826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1045952" y="5275323"/>
            <a:ext cx="91440" cy="787913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1233404" y="5363587"/>
            <a:ext cx="91440" cy="611386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1420856" y="5542223"/>
            <a:ext cx="91440" cy="254114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1608308" y="5519032"/>
            <a:ext cx="91440" cy="300497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548640" y="6217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例：iPhone の台本（8シーン）→ 約43秒の音声1本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アプリ画面の見方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 ①〜⑤ を埋めて「▶ スタート」</a:t>
            </a:r>
            <a:endParaRPr lang="en-US" sz="1400" dirty="0"/>
          </a:p>
        </p:txBody>
      </p:sp>
      <p:pic>
        <p:nvPicPr>
          <p:cNvPr id="4" name="Image 0" descr="/home/user/my-first-project/tools/manual/shots/app_fil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54480"/>
            <a:ext cx="5516217" cy="507492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484632" y="1520389"/>
            <a:ext cx="329184" cy="32918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4632" y="152038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4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24" dirty="0"/>
          </a:p>
        </p:txBody>
      </p:sp>
      <p:sp>
        <p:nvSpPr>
          <p:cNvPr id="7" name="Shape 4"/>
          <p:cNvSpPr/>
          <p:nvPr/>
        </p:nvSpPr>
        <p:spPr>
          <a:xfrm>
            <a:off x="484632" y="2281627"/>
            <a:ext cx="329184" cy="32918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4632" y="228162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4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24" dirty="0"/>
          </a:p>
        </p:txBody>
      </p:sp>
      <p:sp>
        <p:nvSpPr>
          <p:cNvPr id="9" name="Shape 6"/>
          <p:cNvSpPr/>
          <p:nvPr/>
        </p:nvSpPr>
        <p:spPr>
          <a:xfrm>
            <a:off x="484632" y="3274546"/>
            <a:ext cx="329184" cy="32918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4632" y="327454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4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24" dirty="0"/>
          </a:p>
        </p:txBody>
      </p:sp>
      <p:sp>
        <p:nvSpPr>
          <p:cNvPr id="11" name="Shape 8"/>
          <p:cNvSpPr/>
          <p:nvPr/>
        </p:nvSpPr>
        <p:spPr>
          <a:xfrm>
            <a:off x="484632" y="3947524"/>
            <a:ext cx="329184" cy="32918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" y="39475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4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24" dirty="0"/>
          </a:p>
        </p:txBody>
      </p:sp>
      <p:sp>
        <p:nvSpPr>
          <p:cNvPr id="13" name="Shape 10"/>
          <p:cNvSpPr/>
          <p:nvPr/>
        </p:nvSpPr>
        <p:spPr>
          <a:xfrm>
            <a:off x="484632" y="5105930"/>
            <a:ext cx="329184" cy="32918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4632" y="510593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4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24" dirty="0"/>
          </a:p>
        </p:txBody>
      </p:sp>
      <p:sp>
        <p:nvSpPr>
          <p:cNvPr id="15" name="Shape 12"/>
          <p:cNvSpPr/>
          <p:nvPr/>
        </p:nvSpPr>
        <p:spPr>
          <a:xfrm>
            <a:off x="6720840" y="1600200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30" dirty="0"/>
          </a:p>
        </p:txBody>
      </p:sp>
      <p:sp>
        <p:nvSpPr>
          <p:cNvPr id="17" name="Text 14"/>
          <p:cNvSpPr txBox="1"/>
          <p:nvPr/>
        </p:nvSpPr>
        <p:spPr>
          <a:xfrm>
            <a:off x="7269480" y="15819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動画の名前と保存先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269480" y="194767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毎回「名前\日付_時刻」の新しいフォルダができる（前のは消えない）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720840" y="2587752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720840" y="25877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30" dirty="0"/>
          </a:p>
        </p:txBody>
      </p:sp>
      <p:sp>
        <p:nvSpPr>
          <p:cNvPr id="21" name="Text 18"/>
          <p:cNvSpPr txBox="1"/>
          <p:nvPr/>
        </p:nvSpPr>
        <p:spPr>
          <a:xfrm>
            <a:off x="7269480" y="25694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269480" y="293522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絵コンテ画像から作る／貼り付ける／ファイルから読み込む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720840" y="3575304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720840" y="35753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30" dirty="0"/>
          </a:p>
        </p:txBody>
      </p:sp>
      <p:sp>
        <p:nvSpPr>
          <p:cNvPr id="25" name="Text 22"/>
          <p:cNvSpPr txBox="1"/>
          <p:nvPr/>
        </p:nvSpPr>
        <p:spPr>
          <a:xfrm>
            <a:off x="7269480" y="35570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ナレーションと BGM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269480" y="392277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ナレーションは必須。BGM はなくても OK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720840" y="4562856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20840" y="45628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30" dirty="0"/>
          </a:p>
        </p:txBody>
      </p:sp>
      <p:sp>
        <p:nvSpPr>
          <p:cNvPr id="29" name="Text 26"/>
          <p:cNvSpPr txBox="1"/>
          <p:nvPr/>
        </p:nvSpPr>
        <p:spPr>
          <a:xfrm>
            <a:off x="7269480" y="45445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素材と効果音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269480" y="491032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シーンごとに動画・画像を。効果音の行は台本から自動で出る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720840" y="5550408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720840" y="5550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530" dirty="0"/>
          </a:p>
        </p:txBody>
      </p:sp>
      <p:sp>
        <p:nvSpPr>
          <p:cNvPr id="33" name="Text 30"/>
          <p:cNvSpPr txBox="1"/>
          <p:nvPr/>
        </p:nvSpPr>
        <p:spPr>
          <a:xfrm>
            <a:off x="7269480" y="55321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Resolve に並べる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7269480" y="58978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プロジェクト名（なければ作る）→「▶ スタート」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素材・効果音の入れ方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「まとめて追加」なら、ファイル名を見て自動で振り分けます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0350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4688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ファイル名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入る場所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M01.mp4 / M01_オープニング.mp4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S01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M03_1.mp4 / M03_2.png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S03 の [1] / [2]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K01_ポン.wav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効果音 K01 の行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それ以外の名前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空いている行に、名前の順で上から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949440" y="1645920"/>
            <a:ext cx="4709160" cy="960120"/>
          </a:xfrm>
          <a:prstGeom prst="roundRect">
            <a:avLst>
              <a:gd name="adj" fmla="val 11429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178040" y="17556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1つずつ選ぶ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21214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表の行をダブルクリック → ファイルを選ぶ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949440" y="2788920"/>
            <a:ext cx="4709160" cy="960120"/>
          </a:xfrm>
          <a:prstGeom prst="roundRect">
            <a:avLst>
              <a:gd name="adj" fmla="val 11429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78040" y="28986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同じ素材を何シーンにも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178040" y="32644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Shift を押しながら行を選び「選んだ行のファイルを選ぶ…」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0" y="3931920"/>
            <a:ext cx="4709160" cy="960120"/>
          </a:xfrm>
          <a:prstGeom prst="roundRect">
            <a:avLst>
              <a:gd name="adj" fmla="val 11429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78040" y="40416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入れ直す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178040" y="44074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行を選んで「選んだ行から外す」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4572000"/>
            <a:ext cx="6035040" cy="868680"/>
          </a:xfrm>
          <a:prstGeom prst="roundRect">
            <a:avLst>
              <a:gd name="adj" fmla="val 12632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681728"/>
            <a:ext cx="5669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赤い「（未選択）」が残っているとスタートできません。画面下に「準備ができました」と出たら OK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使える形式　動画：mp4 / mov　画像：png / jpg　音声：mp3 / wav / m4a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「▶ スタート」から完了まで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あとは待つだけ。進み具合は画面下の黒い欄に出ます</a:t>
            </a:r>
            <a:endParaRPr lang="en-US" sz="1400" dirty="0"/>
          </a:p>
        </p:txBody>
      </p:sp>
      <p:pic>
        <p:nvPicPr>
          <p:cNvPr id="4" name="Image 0" descr="/home/user/my-first-project/tools/manual/shots/app_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03520" cy="48828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309360" y="1691640"/>
            <a:ext cx="457200" cy="457200"/>
          </a:xfrm>
          <a:prstGeom prst="ellipse">
            <a:avLst/>
          </a:prstGeom>
          <a:solidFill>
            <a:srgbClr val="161B26"/>
          </a:solidFill>
          <a:ln w="12700">
            <a:solidFill>
              <a:srgbClr val="161B2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093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素材をフォルダにコピー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692640" y="16916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数秒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09360" y="2478024"/>
            <a:ext cx="457200" cy="457200"/>
          </a:xfrm>
          <a:prstGeom prst="ellipse">
            <a:avLst/>
          </a:prstGeom>
          <a:solidFill>
            <a:srgbClr val="161B26"/>
          </a:solidFill>
          <a:ln w="12700">
            <a:solidFill>
              <a:srgbClr val="161B2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09360" y="2478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949440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Resolve を起動・プロジェクトを開く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9692640" y="247802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〜1分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309360" y="3264408"/>
            <a:ext cx="457200" cy="457200"/>
          </a:xfrm>
          <a:prstGeom prst="ellipse">
            <a:avLst/>
          </a:prstGeom>
          <a:solidFill>
            <a:srgbClr val="161B26"/>
          </a:solidFill>
          <a:ln w="12700">
            <a:solidFill>
              <a:srgbClr val="161B2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0936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949440" y="32644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読み上げとシーンの対応をとる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96926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音声1分あたり約2分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309360" y="4050792"/>
            <a:ext cx="457200" cy="457200"/>
          </a:xfrm>
          <a:prstGeom prst="ellipse">
            <a:avLst/>
          </a:prstGeom>
          <a:solidFill>
            <a:srgbClr val="161B26"/>
          </a:solidFill>
          <a:ln w="12700">
            <a:solidFill>
              <a:srgbClr val="161B2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09360" y="4050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949440" y="40507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テロップ・静止画の動画を作る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9692640" y="405079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数十秒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309360" y="4837176"/>
            <a:ext cx="457200" cy="457200"/>
          </a:xfrm>
          <a:prstGeom prst="ellipse">
            <a:avLst/>
          </a:prstGeom>
          <a:solidFill>
            <a:srgbClr val="161B26"/>
          </a:solidFill>
          <a:ln w="12700">
            <a:solidFill>
              <a:srgbClr val="161B2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0936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6949440" y="48371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Resolve に並べる</a:t>
            </a:r>
            <a:endParaRPr lang="en-US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9692640" y="48371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数十秒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6309360" y="5715000"/>
            <a:ext cx="5349240" cy="777240"/>
          </a:xfrm>
          <a:prstGeom prst="roundRect">
            <a:avLst>
              <a:gd name="adj" fmla="val 14118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92240" y="5824728"/>
            <a:ext cx="49834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「完了しました」と出たら Resolve へ。エラーで止まったら「レポートを開く」で理由を確認（p.15）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Resolve で確認・仕上げ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新しくできたタイムラインを再生してチェック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25400">
            <a:solidFill>
              <a:srgbClr val="22A0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64208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A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90472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切り替え位置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108960" y="149047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映像がナレーションと合っているか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25400">
            <a:solidFill>
              <a:srgbClr val="22A0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78608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A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404872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テロップの文字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240487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誤字があれば、テロップをクリック → インスペクタの「テキスト」で直接直す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25400">
            <a:solidFill>
              <a:srgbClr val="22A0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493008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A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319272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前のタイムライン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331927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やり直しても前のタイムライン・素材は消えない。見比べて良い方を使う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25400">
            <a:solidFill>
              <a:srgbClr val="22A0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07408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A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33672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音量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423367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BGM・効果音は自動で下げないので、Resolve で調整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34924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25400">
            <a:solidFill>
              <a:srgbClr val="22A0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5321808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A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5148072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レポート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108960" y="514807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アプリの「レポートを開く」で警告を確認</a:t>
            </a:r>
            <a:endParaRPr lang="en-US" sz="1250" dirty="0"/>
          </a:p>
        </p:txBody>
      </p:sp>
      <p:pic>
        <p:nvPicPr>
          <p:cNvPr id="24" name="Image 0" descr="/home/user/my-first-project/tools/manual/shots/telop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554480"/>
            <a:ext cx="2743200" cy="4873752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pic>
      <p:sp>
        <p:nvSpPr>
          <p:cNvPr id="25" name="Text 22"/>
          <p:cNvSpPr txBox="1"/>
          <p:nvPr/>
        </p:nvSpPr>
        <p:spPr>
          <a:xfrm>
            <a:off x="8412480" y="6464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テロップの見本（見た目はひな形しだい）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テロップのひな形を作る（最初に1回）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 Resolve の Text+ で置かれ、見た目はこの「ひな形」のとおりになります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4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Text+ を置く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エディットページで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エフェクト → タイトル →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Fusionタイトル →「Text+」を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タイムラインへ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30175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89120" y="173736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01168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4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見た目を整える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7889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インスペクタで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フォント・大きさ・色・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縁取り・位置を決める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（文字の中身は何でも OK）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30175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29600" y="173736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201168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0392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40" dirty="0"/>
          </a:p>
        </p:txBody>
      </p:sp>
      <p:sp>
        <p:nvSpPr>
          <p:cNvPr id="19" name="Text 17"/>
          <p:cNvSpPr txBox="1"/>
          <p:nvPr/>
        </p:nvSpPr>
        <p:spPr>
          <a:xfrm>
            <a:off x="918972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メディアプールへ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27889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そのクリップを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メディアプールへドラッグし、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名前を「テロップ」に変える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275320" y="3977640"/>
            <a:ext cx="137160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75320" y="39776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T+  テロップ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5074920"/>
            <a:ext cx="11109960" cy="868680"/>
          </a:xfrm>
          <a:prstGeom prst="roundRect">
            <a:avLst>
              <a:gd name="adj" fmla="val 12632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5184648"/>
            <a:ext cx="10744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プロジェクトごとに1回だけ。ひな形がないとテロップは置かれず、レポートに警告が出ます（ほかは普通に並びます）。見た目を変えたいときは、ひな形を直して再スタート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12648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置かれたテロップは、クリックしてインスペクタの「テキスト」で文字を直せます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エラーは Resolve に置く前に止まり、画面とレポートに理由が出ます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10996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5379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表示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直し方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ナレーションの音声ファイルを選んでください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③ でナレーションを選ぶ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素材が選ばれていないシーンがあります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④ の赤い行に素材を選ぶ（同じ素材を使い回しても OK）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台本の効果音 K02 のファイルがありません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④ の「効果音 K02」の行に音声を選ぶ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API キーが正しくありません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キーを貼り直す（p.5）。残高がないときも失敗します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アライメント信頼度が低い（警告）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台本と音声の文章が違う。どちらかを直す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Resolve に接続できません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Resolve の 環境設定 → システム → 一般 →「外部スクリプトに使用」を「ローカル」に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テロップのひな形「テロップ」がメディアプールにない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p.14 のひな形を作ってから、もう一度スタート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20000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6007608"/>
            <a:ext cx="10744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わからないときは、アプリ画面（黒い欄が見えるように）を撮って Claude に送ってください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毎回の作業まとめ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475488" cy="47548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68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73736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絵コンテを PNG で作る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450592"/>
            <a:ext cx="475488" cy="47548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4505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68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450592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「絵コンテ画像から作る…」で台本に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163824"/>
            <a:ext cx="475488" cy="47548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1638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68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163824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台本の文章でナレーション音声を作る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3877056"/>
            <a:ext cx="475488" cy="47548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77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68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877056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素材・BGM・効果音を入れて ▶ スタート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31520" y="4590288"/>
            <a:ext cx="475488" cy="47548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5902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768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590288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Resolve で確認・仕上げ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17373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ツールの更新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863840" y="224028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0" y="235000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"G:\@Auto_Davinch-Cloude"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 origin claude/claude-md-phase-0-qxn5wu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429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詳しい文章の説明：取扱説明書.md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絵コンテと台本の見本：samples\絵コンテ_iPhone</a:t>
            </a:r>
            <a:endParaRPr lang="en-US" sz="1200" dirty="0"/>
          </a:p>
        </p:txBody>
      </p:sp>
      <p:pic>
        <p:nvPicPr>
          <p:cNvPr id="22" name="Image 0" descr="/home/user/my-first-project/assets/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4754880"/>
            <a:ext cx="1280160" cy="1280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Resolve 自動配置ツール 取扱説明書</dc:title>
  <dc:subject>PptxGenJS Presentation</dc:subject>
  <dc:creator>PptxGenJS</dc:creator>
  <cp:lastModifiedBy>PptxGenJS</cp:lastModifiedBy>
  <cp:revision>1</cp:revision>
  <dcterms:created xsi:type="dcterms:W3CDTF">2026-09-27T01:16:05Z</dcterms:created>
  <dcterms:modified xsi:type="dcterms:W3CDTF">2026-09-27T01:16:05Z</dcterms:modified>
</cp:coreProperties>
</file>